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21040" y="0"/>
            <a:ext cx="3870655" cy="6858000"/>
          </a:xfrm>
          <a:prstGeom prst="rect">
            <a:avLst/>
          </a:prstGeom>
          <a:solidFill>
            <a:srgbClr val="153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87968" y="1417320"/>
            <a:ext cx="2596896" cy="1024128"/>
          </a:xfrm>
          <a:prstGeom prst="roundRect">
            <a:avLst>
              <a:gd name="adj" fmla="val 12000"/>
            </a:avLst>
          </a:prstGeom>
          <a:solidFill>
            <a:srgbClr val="1D4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25712" y="1581912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5D2E2"/>
                </a:solidFill>
                <a:latin typeface="Aptos"/>
              </a:rPr>
              <a:t>PASS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5712" y="1828800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8A36A"/>
                </a:solidFill>
                <a:latin typeface="Aptos"/>
              </a:rPr>
              <a:t>90%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87968" y="2770632"/>
            <a:ext cx="2596896" cy="1024128"/>
          </a:xfrm>
          <a:prstGeom prst="roundRect">
            <a:avLst>
              <a:gd name="adj" fmla="val 12000"/>
            </a:avLst>
          </a:prstGeom>
          <a:solidFill>
            <a:srgbClr val="1D4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25712" y="2935224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5D2E2"/>
                </a:solidFill>
                <a:latin typeface="Aptos"/>
              </a:rPr>
              <a:t>ATTENDANCE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25712" y="3182112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3B82D0"/>
                </a:solidFill>
                <a:latin typeface="Aptos"/>
              </a:rPr>
              <a:t>87%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7968" y="4123944"/>
            <a:ext cx="2596896" cy="1024128"/>
          </a:xfrm>
          <a:prstGeom prst="roundRect">
            <a:avLst>
              <a:gd name="adj" fmla="val 12000"/>
            </a:avLst>
          </a:prstGeom>
          <a:solidFill>
            <a:srgbClr val="1D4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25712" y="4288536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5D2E2"/>
                </a:solidFill>
                <a:latin typeface="Aptos"/>
              </a:rPr>
              <a:t>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25712" y="4535424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99540"/>
                </a:solidFill>
                <a:latin typeface="Aptos"/>
              </a:rPr>
              <a:t>480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658368"/>
            <a:ext cx="100584" cy="502920"/>
          </a:xfrm>
          <a:prstGeom prst="roundRect">
            <a:avLst>
              <a:gd name="adj" fmla="val 12000"/>
            </a:avLst>
          </a:prstGeom>
          <a:solidFill>
            <a:srgbClr val="39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758952"/>
            <a:ext cx="5669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FC6DD"/>
                </a:solidFill>
                <a:latin typeface="Aptos"/>
              </a:rPr>
              <a:t>DATA MINING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600200"/>
            <a:ext cx="713232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Student Academic
Performance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01568"/>
            <a:ext cx="6766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AE6F2"/>
                </a:solidFill>
                <a:latin typeface="Aptos"/>
              </a:rPr>
              <a:t>From student records to actionable academic insight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24528"/>
            <a:ext cx="2148840" cy="429768"/>
          </a:xfrm>
          <a:prstGeom prst="roundRect">
            <a:avLst>
              <a:gd name="adj" fmla="val 12000"/>
            </a:avLst>
          </a:prstGeom>
          <a:solidFill>
            <a:srgbClr val="244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4361688"/>
            <a:ext cx="186537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PYTHON  ·  STREAMLIT  ·  SCIKIT-LEARN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56048"/>
            <a:ext cx="7040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FC6DD"/>
                </a:solidFill>
                <a:latin typeface="Aptos"/>
              </a:rPr>
              <a:t>Descriptive analytics  +  predictive modeling  +  student segmentation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989320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FC6DD"/>
                </a:solidFill>
                <a:latin typeface="Aptos"/>
              </a:rPr>
              <a:t>Synthetic sample data · 480 student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56248"/>
            <a:ext cx="9601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C5D2E2"/>
                </a:solidFill>
                <a:latin typeface="Aptos"/>
              </a:rPr>
              <a:t>STUDENT ACADEMIC PERFORMANCE ANALYSIS  ·  DATA MINING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5D2E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B82D0"/>
                </a:solidFill>
                <a:latin typeface="Aptos"/>
              </a:rPr>
              <a:t>01 ·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2B4E"/>
                </a:solidFill>
                <a:latin typeface="Aptos"/>
              </a:rPr>
              <a:t>One dashboard. Three ways to understand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07008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Aptos"/>
              </a:rPr>
              <a:t>A practical education analytics workflow designed for exploration and early support.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529584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64008" cy="1481328"/>
          </a:xfrm>
          <a:prstGeom prst="rect">
            <a:avLst/>
          </a:prstGeom>
          <a:solidFill>
            <a:srgbClr val="3B8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057400"/>
            <a:ext cx="31181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B4E"/>
                </a:solidFill>
                <a:latin typeface="Aptos"/>
              </a:rPr>
              <a:t>01  Explore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78024"/>
            <a:ext cx="310896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Aptos"/>
              </a:rPr>
              <a:t>Track pass rate, GPA estimate, attendance, score distributions, school and grade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874519"/>
            <a:ext cx="3529584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1874519"/>
            <a:ext cx="64008" cy="1481328"/>
          </a:xfrm>
          <a:prstGeom prst="rect">
            <a:avLst/>
          </a:prstGeom>
          <a:solidFill>
            <a:srgbClr val="D94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2057400"/>
            <a:ext cx="31181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B4E"/>
                </a:solidFill>
                <a:latin typeface="Aptos"/>
              </a:rPr>
              <a:t>02  Identify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478024"/>
            <a:ext cx="310896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Aptos"/>
              </a:rPr>
              <a:t>Compare interpretable baseline classification models using engagement and prior-performance signals.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84463" y="1874519"/>
            <a:ext cx="3529584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84463" y="1874519"/>
            <a:ext cx="64008" cy="1481328"/>
          </a:xfrm>
          <a:prstGeom prst="rect">
            <a:avLst/>
          </a:prstGeom>
          <a:solidFill>
            <a:srgbClr val="28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9" y="2057400"/>
            <a:ext cx="31181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B4E"/>
                </a:solidFill>
                <a:latin typeface="Aptos"/>
              </a:rPr>
              <a:t>03  Find segments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2478024"/>
            <a:ext cx="310896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Aptos"/>
              </a:rPr>
              <a:t>Use unsupervised clustering to group students by learning and engagement patterns.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9476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93192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7085"/>
                </a:solidFill>
                <a:latin typeface="Aptos"/>
              </a:rPr>
              <a:t>PASS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151376"/>
            <a:ext cx="2331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8A36A"/>
                </a:solidFill>
                <a:latin typeface="Aptos"/>
              </a:rPr>
              <a:t>90%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599432"/>
            <a:ext cx="2331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Aptos"/>
              </a:rPr>
              <a:t>Score of 60 or above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39" y="379476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85031" y="393192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7085"/>
                </a:solidFill>
                <a:latin typeface="Aptos"/>
              </a:rPr>
              <a:t>AVERAGE GPA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5031" y="4151376"/>
            <a:ext cx="2331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3B82D0"/>
                </a:solidFill>
                <a:latin typeface="Aptos"/>
              </a:rPr>
              <a:t>3.00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5031" y="4599432"/>
            <a:ext cx="2331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Aptos"/>
              </a:rPr>
              <a:t>Score mapped to 4.0 scale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79476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393192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7085"/>
                </a:solidFill>
                <a:latin typeface="Aptos"/>
              </a:rPr>
              <a:t>ATTENDANCE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4151376"/>
            <a:ext cx="2331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39A99B"/>
                </a:solidFill>
                <a:latin typeface="Aptos"/>
              </a:rPr>
              <a:t>87%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4599432"/>
            <a:ext cx="2331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Aptos"/>
              </a:rPr>
              <a:t>Mean attendance rate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81159" y="379476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45751" y="393192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7085"/>
                </a:solidFill>
                <a:latin typeface="Aptos"/>
              </a:rPr>
              <a:t>AT-RISK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45751" y="4151376"/>
            <a:ext cx="2331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94F54"/>
                </a:solidFill>
                <a:latin typeface="Aptos"/>
              </a:rPr>
              <a:t>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5751" y="4599432"/>
            <a:ext cx="2331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Aptos"/>
              </a:rPr>
              <a:t>Score &lt;60 or attendance &lt;70%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257800"/>
            <a:ext cx="10954512" cy="658368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541324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2B4E"/>
                </a:solidFill>
                <a:latin typeface="Aptos"/>
              </a:rPr>
              <a:t>Purpose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376672"/>
            <a:ext cx="9418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82230"/>
                </a:solidFill>
                <a:latin typeface="Aptos"/>
              </a:rPr>
              <a:t>Surface patterns that help educators investigate and support students—not automate decisions about them.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556248"/>
            <a:ext cx="9601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98A2B3"/>
                </a:solidFill>
                <a:latin typeface="Aptos"/>
              </a:rPr>
              <a:t>STUDENT ACADEMIC PERFORMANCE ANALYSIS  ·  DATA MINING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8A2B3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B82D0"/>
                </a:solidFill>
                <a:latin typeface="Aptos"/>
              </a:rPr>
              <a:t>02 ·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2B4E"/>
                </a:solidFill>
                <a:latin typeface="Aptos"/>
              </a:rPr>
              <a:t>A small, reproducible dataset with meaningful learning signals.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07008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Aptos"/>
              </a:rPr>
              <a:t>Synthetic records let the full pipeline run out of the box; replace them with validated data for further study.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578608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20240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7085"/>
                </a:solidFill>
                <a:latin typeface="Aptos"/>
              </a:rPr>
              <a:t>STUDENT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139696"/>
            <a:ext cx="22585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3B82D0"/>
                </a:solidFill>
                <a:latin typeface="Aptos"/>
              </a:rPr>
              <a:t>480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587752"/>
            <a:ext cx="22585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Aptos"/>
              </a:rPr>
              <a:t>Generated sample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783080"/>
            <a:ext cx="2578608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584" y="1920240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7085"/>
                </a:solidFill>
                <a:latin typeface="Aptos"/>
              </a:rPr>
              <a:t>INPUT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2139696"/>
            <a:ext cx="22585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39A99B"/>
                </a:solidFill>
                <a:latin typeface="Aptos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587752"/>
            <a:ext cx="22585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Aptos"/>
              </a:rPr>
              <a:t>Required CSV columns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4" y="1783080"/>
            <a:ext cx="2578608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1920240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7085"/>
                </a:solidFill>
                <a:latin typeface="Aptos"/>
              </a:rPr>
              <a:t>GRADE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2139696"/>
            <a:ext cx="22585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8A36A"/>
                </a:solidFill>
                <a:latin typeface="Aptos"/>
              </a:rPr>
              <a:t>9–12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2587752"/>
            <a:ext cx="22585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Aptos"/>
              </a:rPr>
              <a:t>High-school sample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14816" y="1783080"/>
            <a:ext cx="2578608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1920240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7085"/>
                </a:solidFill>
                <a:latin typeface="Aptos"/>
              </a:rPr>
              <a:t>ACADEMIC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2139696"/>
            <a:ext cx="22585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99540"/>
                </a:solidFill>
                <a:latin typeface="Aptos"/>
              </a:rPr>
              <a:t>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587752"/>
            <a:ext cx="22585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Aptos"/>
              </a:rPr>
              <a:t>Assessment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154680"/>
            <a:ext cx="3520440" cy="2176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154680"/>
            <a:ext cx="64008" cy="2176272"/>
          </a:xfrm>
          <a:prstGeom prst="rect">
            <a:avLst/>
          </a:prstGeom>
          <a:solidFill>
            <a:srgbClr val="3B8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333756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B4E"/>
                </a:solidFill>
                <a:latin typeface="Aptos"/>
              </a:rPr>
              <a:t>Academic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3758184"/>
            <a:ext cx="3099816" cy="1453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Aptos"/>
              </a:rPr>
              <a:t>Previous and final scores
Grade level
Assessment date
Enrollment year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154680"/>
            <a:ext cx="3520440" cy="2176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154680"/>
            <a:ext cx="64008" cy="2176272"/>
          </a:xfrm>
          <a:prstGeom prst="rect">
            <a:avLst/>
          </a:prstGeom>
          <a:solidFill>
            <a:srgbClr val="28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62856" y="333756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B4E"/>
                </a:solidFill>
                <a:latin typeface="Aptos"/>
              </a:rPr>
              <a:t>Engagement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2856" y="3758184"/>
            <a:ext cx="3099816" cy="1453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Aptos"/>
              </a:rPr>
              <a:t>Attendance percentage
Assignment completion
Study hours per week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154680"/>
            <a:ext cx="3520440" cy="2176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3154680"/>
            <a:ext cx="64008" cy="2176272"/>
          </a:xfrm>
          <a:prstGeom prst="rect">
            <a:avLst/>
          </a:prstGeom>
          <a:solidFill>
            <a:srgbClr val="E9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6176" y="333756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B4E"/>
                </a:solidFill>
                <a:latin typeface="Aptos"/>
              </a:rPr>
              <a:t>Learning 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6176" y="3758184"/>
            <a:ext cx="3099816" cy="1453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Aptos"/>
              </a:rPr>
              <a:t>School
Parent / guardian education
Internet access
Gender category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9612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2B4E"/>
                </a:solidFill>
                <a:latin typeface="Aptos"/>
              </a:rPr>
              <a:t>Derived outcome labels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5586984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Aptos"/>
              </a:rPr>
              <a:t>Pass = final score ≥ 60     ·     At-risk = final score &lt; 60 OR attendance &lt; 70%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6556248"/>
            <a:ext cx="9601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98A2B3"/>
                </a:solidFill>
                <a:latin typeface="Aptos"/>
              </a:rPr>
              <a:t>STUDENT ACADEMIC PERFORMANCE ANALYSIS  ·  DATA MINING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8A2B3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B82D0"/>
                </a:solidFill>
                <a:latin typeface="Aptos"/>
              </a:rPr>
              <a:t>03 ·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2B4E"/>
                </a:solidFill>
                <a:latin typeface="Aptos"/>
              </a:rPr>
              <a:t>A transparent pipeline from raw CSV to useful views.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07008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Aptos"/>
              </a:rPr>
              <a:t>Validation, descriptive analysis, supervised prediction, and unsupervised segmentation.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57400"/>
            <a:ext cx="1938528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7" y="226771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3B8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368296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907792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B4E"/>
                </a:solidFill>
                <a:latin typeface="Aptos"/>
              </a:rPr>
              <a:t>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273552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Aptos"/>
              </a:rPr>
              <a:t>Required fields
Ranges · dates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15184" y="2907792"/>
            <a:ext cx="301752" cy="36576"/>
          </a:xfrm>
          <a:prstGeom prst="rect">
            <a:avLst/>
          </a:prstGeom>
          <a:solidFill>
            <a:srgbClr val="B8C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71800" y="2057400"/>
            <a:ext cx="1938528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54680" y="226771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39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2368296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907792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B4E"/>
                </a:solidFill>
                <a:latin typeface="Aptos"/>
              </a:rPr>
              <a:t>Explore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273552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Aptos"/>
              </a:rPr>
              <a:t>Score · attendance
School · grade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28616" y="2907792"/>
            <a:ext cx="301752" cy="36576"/>
          </a:xfrm>
          <a:prstGeom prst="rect">
            <a:avLst/>
          </a:prstGeom>
          <a:solidFill>
            <a:srgbClr val="B8C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85231" y="2057400"/>
            <a:ext cx="1938528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68112" y="226771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D94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68112" y="2368296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8112" y="2907792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B4E"/>
                </a:solidFill>
                <a:latin typeface="Aptos"/>
              </a:rPr>
              <a:t>Predict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8112" y="3273552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Aptos"/>
              </a:rPr>
              <a:t>Logistic regression
Random forest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42048" y="2907792"/>
            <a:ext cx="301752" cy="36576"/>
          </a:xfrm>
          <a:prstGeom prst="rect">
            <a:avLst/>
          </a:prstGeom>
          <a:solidFill>
            <a:srgbClr val="B8C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98664" y="2057400"/>
            <a:ext cx="1938528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81544" y="226771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9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81544" y="2368296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1544" y="2907792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B4E"/>
                </a:solidFill>
                <a:latin typeface="Aptos"/>
              </a:rPr>
              <a:t>Segment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81544" y="3273552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Aptos"/>
              </a:rPr>
              <a:t>Scaled features
K-means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55480" y="2907792"/>
            <a:ext cx="301752" cy="36576"/>
          </a:xfrm>
          <a:prstGeom prst="rect">
            <a:avLst/>
          </a:prstGeom>
          <a:solidFill>
            <a:srgbClr val="B8C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912096" y="2057400"/>
            <a:ext cx="1938528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094976" y="226771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28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94976" y="2368296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94976" y="2907792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B4E"/>
                </a:solidFill>
                <a:latin typeface="Aptos"/>
              </a:rPr>
              <a:t>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94976" y="3273552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Aptos"/>
              </a:rPr>
              <a:t>Metrics · profiles
Educator context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389120"/>
            <a:ext cx="10881360" cy="1097280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4590288"/>
            <a:ext cx="1444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B4E"/>
                </a:solidFill>
                <a:latin typeface="Aptos"/>
              </a:rPr>
              <a:t>Leakage guard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4553712"/>
            <a:ext cx="8503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82230"/>
                </a:solidFill>
                <a:latin typeface="Aptos"/>
              </a:rPr>
              <a:t>Risk classification excludes final score and the derived risk label from model inputs. A stratified 75/25 split keeps test examples separate from training.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6556248"/>
            <a:ext cx="9601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98A2B3"/>
                </a:solidFill>
                <a:latin typeface="Aptos"/>
              </a:rPr>
              <a:t>STUDENT ACADEMIC PERFORMANCE ANALYSIS  ·  DATA MINING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8A2B3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B82D0"/>
                </a:solidFill>
                <a:latin typeface="Aptos"/>
              </a:rPr>
              <a:t>PRODUCT SCREENSHOT  ·  STREAMLIT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48640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02B4E"/>
                </a:solidFill>
                <a:latin typeface="Aptos"/>
              </a:rPr>
              <a:t>The dashboard at a glance</a:t>
            </a:r>
          </a:p>
        </p:txBody>
      </p:sp>
      <p:pic>
        <p:nvPicPr>
          <p:cNvPr id="5" name="Picture 4" descr="dashboard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987552"/>
            <a:ext cx="9829800" cy="5532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6556248"/>
            <a:ext cx="9601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98A2B3"/>
                </a:solidFill>
                <a:latin typeface="Aptos"/>
              </a:rPr>
              <a:t>STUDENT ACADEMIC PERFORMANCE ANALYSIS  ·  DATA MINING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8A2B3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B82D0"/>
                </a:solidFill>
                <a:latin typeface="Aptos"/>
              </a:rPr>
              <a:t>04 · PREDICTIVE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2B4E"/>
                </a:solidFill>
                <a:latin typeface="Aptos"/>
              </a:rPr>
              <a:t>Early-warning classification: measure more than accuracy.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07008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Aptos"/>
              </a:rPr>
              <a:t>Two baseline classifiers, one stratified holdout, and clear performance trade-offs.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19072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856231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7085"/>
                </a:solidFill>
                <a:latin typeface="Aptos"/>
              </a:rPr>
              <a:t>BEST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075688"/>
            <a:ext cx="2331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3B82D0"/>
                </a:solidFill>
                <a:latin typeface="Aptos"/>
              </a:rPr>
              <a:t>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523744"/>
            <a:ext cx="2331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Aptos"/>
              </a:rPr>
              <a:t>Selected by F1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719072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1" y="1856231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7085"/>
                </a:solidFill>
                <a:latin typeface="Aptos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1" y="2075688"/>
            <a:ext cx="2331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8A36A"/>
                </a:solidFill>
                <a:latin typeface="Aptos"/>
              </a:rPr>
              <a:t>89.2%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1" y="2523744"/>
            <a:ext cx="2331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Aptos"/>
              </a:rPr>
              <a:t>Correct overall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719072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1856231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7085"/>
                </a:solidFill>
                <a:latin typeface="Aptos"/>
              </a:rPr>
              <a:t>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075688"/>
            <a:ext cx="2331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99540"/>
                </a:solidFill>
                <a:latin typeface="Aptos"/>
              </a:rPr>
              <a:t>53.8%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523744"/>
            <a:ext cx="2331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Aptos"/>
              </a:rPr>
              <a:t>Risk flags that were correct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1719072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45751" y="1856231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7085"/>
                </a:solidFill>
                <a:latin typeface="Aptos"/>
              </a:rPr>
              <a:t>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5751" y="2075688"/>
            <a:ext cx="2331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94F54"/>
                </a:solidFill>
                <a:latin typeface="Aptos"/>
              </a:rPr>
              <a:t>50.0%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5751" y="2523744"/>
            <a:ext cx="2331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Aptos"/>
              </a:rPr>
              <a:t>At-risk cases identified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063240"/>
            <a:ext cx="521208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28269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B4E"/>
                </a:solidFill>
                <a:latin typeface="Aptos"/>
              </a:rPr>
              <a:t>Holdout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73075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Aptos"/>
              </a:rPr>
              <a:t>Accuracy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3753612"/>
            <a:ext cx="1261872" cy="128016"/>
          </a:xfrm>
          <a:prstGeom prst="roundRect">
            <a:avLst>
              <a:gd name="adj" fmla="val 12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828800" y="3753612"/>
            <a:ext cx="925372" cy="128016"/>
          </a:xfrm>
          <a:prstGeom prst="roundRect">
            <a:avLst>
              <a:gd name="adj" fmla="val 12000"/>
            </a:avLst>
          </a:prstGeom>
          <a:solidFill>
            <a:srgbClr val="3B8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27248" y="372160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82230"/>
                </a:solidFill>
                <a:latin typeface="Aptos"/>
              </a:rPr>
              <a:t>73%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49039" y="3753612"/>
            <a:ext cx="1261872" cy="128016"/>
          </a:xfrm>
          <a:prstGeom prst="roundRect">
            <a:avLst>
              <a:gd name="adj" fmla="val 12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749039" y="3753612"/>
            <a:ext cx="1125169" cy="128016"/>
          </a:xfrm>
          <a:prstGeom prst="roundRect">
            <a:avLst>
              <a:gd name="adj" fmla="val 12000"/>
            </a:avLst>
          </a:prstGeom>
          <a:solidFill>
            <a:srgbClr val="28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47488" y="372160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82230"/>
                </a:solidFill>
                <a:latin typeface="Aptos"/>
              </a:rPr>
              <a:t>89%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409651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Aptos"/>
              </a:rPr>
              <a:t>Precision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0" y="4119372"/>
            <a:ext cx="1261872" cy="128016"/>
          </a:xfrm>
          <a:prstGeom prst="roundRect">
            <a:avLst>
              <a:gd name="adj" fmla="val 12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828800" y="4119372"/>
            <a:ext cx="360534" cy="128016"/>
          </a:xfrm>
          <a:prstGeom prst="roundRect">
            <a:avLst>
              <a:gd name="adj" fmla="val 12000"/>
            </a:avLst>
          </a:prstGeom>
          <a:solidFill>
            <a:srgbClr val="3B8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27248" y="408736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82230"/>
                </a:solidFill>
                <a:latin typeface="Aptos"/>
              </a:rPr>
              <a:t>29%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49039" y="4119372"/>
            <a:ext cx="1261872" cy="128016"/>
          </a:xfrm>
          <a:prstGeom prst="roundRect">
            <a:avLst>
              <a:gd name="adj" fmla="val 12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749039" y="4119372"/>
            <a:ext cx="679469" cy="128016"/>
          </a:xfrm>
          <a:prstGeom prst="roundRect">
            <a:avLst>
              <a:gd name="adj" fmla="val 12000"/>
            </a:avLst>
          </a:prstGeom>
          <a:solidFill>
            <a:srgbClr val="28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47488" y="408736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82230"/>
                </a:solidFill>
                <a:latin typeface="Aptos"/>
              </a:rPr>
              <a:t>54%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44622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Aptos"/>
              </a:rPr>
              <a:t>Recall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28800" y="4485132"/>
            <a:ext cx="1261872" cy="128016"/>
          </a:xfrm>
          <a:prstGeom prst="roundRect">
            <a:avLst>
              <a:gd name="adj" fmla="val 12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828800" y="4485132"/>
            <a:ext cx="1081604" cy="128016"/>
          </a:xfrm>
          <a:prstGeom prst="roundRect">
            <a:avLst>
              <a:gd name="adj" fmla="val 12000"/>
            </a:avLst>
          </a:prstGeom>
          <a:solidFill>
            <a:srgbClr val="3B8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27248" y="44531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82230"/>
                </a:solidFill>
                <a:latin typeface="Aptos"/>
              </a:rPr>
              <a:t>86%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749039" y="4485132"/>
            <a:ext cx="1261872" cy="128016"/>
          </a:xfrm>
          <a:prstGeom prst="roundRect">
            <a:avLst>
              <a:gd name="adj" fmla="val 12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749039" y="4485132"/>
            <a:ext cx="630936" cy="128016"/>
          </a:xfrm>
          <a:prstGeom prst="roundRect">
            <a:avLst>
              <a:gd name="adj" fmla="val 12000"/>
            </a:avLst>
          </a:prstGeom>
          <a:solidFill>
            <a:srgbClr val="28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47488" y="44531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82230"/>
                </a:solidFill>
                <a:latin typeface="Aptos"/>
              </a:rPr>
              <a:t>50%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" y="482803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Aptos"/>
              </a:rPr>
              <a:t>F1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28800" y="4850892"/>
            <a:ext cx="1261872" cy="128016"/>
          </a:xfrm>
          <a:prstGeom prst="roundRect">
            <a:avLst>
              <a:gd name="adj" fmla="val 12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828800" y="4850892"/>
            <a:ext cx="540802" cy="128016"/>
          </a:xfrm>
          <a:prstGeom prst="roundRect">
            <a:avLst>
              <a:gd name="adj" fmla="val 12000"/>
            </a:avLst>
          </a:prstGeom>
          <a:solidFill>
            <a:srgbClr val="3B8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27248" y="48188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82230"/>
                </a:solidFill>
                <a:latin typeface="Aptos"/>
              </a:rPr>
              <a:t>43%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749039" y="4850892"/>
            <a:ext cx="1261872" cy="128016"/>
          </a:xfrm>
          <a:prstGeom prst="roundRect">
            <a:avLst>
              <a:gd name="adj" fmla="val 12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749039" y="4850892"/>
            <a:ext cx="654304" cy="128016"/>
          </a:xfrm>
          <a:prstGeom prst="roundRect">
            <a:avLst>
              <a:gd name="adj" fmla="val 12000"/>
            </a:avLst>
          </a:prstGeom>
          <a:solidFill>
            <a:srgbClr val="28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47488" y="48188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82230"/>
                </a:solidFill>
                <a:latin typeface="Aptos"/>
              </a:rPr>
              <a:t>52%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28800" y="5212080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67085"/>
                </a:solidFill>
                <a:latin typeface="Aptos"/>
              </a:rPr>
              <a:t>Logistic regression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49039" y="5212080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67085"/>
                </a:solidFill>
                <a:latin typeface="Aptos"/>
              </a:rPr>
              <a:t>Random forest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08192" y="3063240"/>
            <a:ext cx="544068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45936" y="328269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B4E"/>
                </a:solidFill>
                <a:latin typeface="Aptos"/>
              </a:rPr>
              <a:t>Top random-forest drivers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64224" y="3694176"/>
            <a:ext cx="19385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82230"/>
                </a:solidFill>
                <a:latin typeface="Aptos"/>
              </a:rPr>
              <a:t>Enrollment Year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85048" y="3717036"/>
            <a:ext cx="2212848" cy="118872"/>
          </a:xfrm>
          <a:prstGeom prst="roundRect">
            <a:avLst>
              <a:gd name="adj" fmla="val 12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385048" y="3717036"/>
            <a:ext cx="430675" cy="118872"/>
          </a:xfrm>
          <a:prstGeom prst="roundRect">
            <a:avLst>
              <a:gd name="adj" fmla="val 12000"/>
            </a:avLst>
          </a:prstGeom>
          <a:solidFill>
            <a:srgbClr val="39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64224" y="4005072"/>
            <a:ext cx="19385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82230"/>
                </a:solidFill>
                <a:latin typeface="Aptos"/>
              </a:rPr>
              <a:t>Assignment Completion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85048" y="4027932"/>
            <a:ext cx="2212848" cy="118872"/>
          </a:xfrm>
          <a:prstGeom prst="roundRect">
            <a:avLst>
              <a:gd name="adj" fmla="val 12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385048" y="4027932"/>
            <a:ext cx="1145702" cy="118872"/>
          </a:xfrm>
          <a:prstGeom prst="roundRect">
            <a:avLst>
              <a:gd name="adj" fmla="val 12000"/>
            </a:avLst>
          </a:prstGeom>
          <a:solidFill>
            <a:srgbClr val="39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64224" y="4315968"/>
            <a:ext cx="19385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82230"/>
                </a:solidFill>
                <a:latin typeface="Aptos"/>
              </a:rPr>
              <a:t>Previous Score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385048" y="4338828"/>
            <a:ext cx="2212848" cy="118872"/>
          </a:xfrm>
          <a:prstGeom prst="roundRect">
            <a:avLst>
              <a:gd name="adj" fmla="val 12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385048" y="4338828"/>
            <a:ext cx="1910250" cy="118872"/>
          </a:xfrm>
          <a:prstGeom prst="roundRect">
            <a:avLst>
              <a:gd name="adj" fmla="val 12000"/>
            </a:avLst>
          </a:prstGeom>
          <a:solidFill>
            <a:srgbClr val="39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64224" y="4626864"/>
            <a:ext cx="19385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82230"/>
                </a:solidFill>
                <a:latin typeface="Aptos"/>
              </a:rPr>
              <a:t>Attendance Rate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85048" y="4649724"/>
            <a:ext cx="2212848" cy="118872"/>
          </a:xfrm>
          <a:prstGeom prst="roundRect">
            <a:avLst>
              <a:gd name="adj" fmla="val 12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385048" y="4649724"/>
            <a:ext cx="2062337" cy="118872"/>
          </a:xfrm>
          <a:prstGeom prst="roundRect">
            <a:avLst>
              <a:gd name="adj" fmla="val 12000"/>
            </a:avLst>
          </a:prstGeom>
          <a:solidFill>
            <a:srgbClr val="39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64224" y="4937760"/>
            <a:ext cx="19385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182230"/>
                </a:solidFill>
                <a:latin typeface="Aptos"/>
              </a:rPr>
              <a:t>Study Hours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385048" y="4960620"/>
            <a:ext cx="2212848" cy="118872"/>
          </a:xfrm>
          <a:prstGeom prst="roundRect">
            <a:avLst>
              <a:gd name="adj" fmla="val 12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385048" y="4960620"/>
            <a:ext cx="2212848" cy="118872"/>
          </a:xfrm>
          <a:prstGeom prst="roundRect">
            <a:avLst>
              <a:gd name="adj" fmla="val 12000"/>
            </a:avLst>
          </a:prstGeom>
          <a:solidFill>
            <a:srgbClr val="39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40080" y="5687568"/>
            <a:ext cx="10908792" cy="484632"/>
          </a:xfrm>
          <a:prstGeom prst="roundRect">
            <a:avLst>
              <a:gd name="adj" fmla="val 12000"/>
            </a:avLst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0392" y="5833872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2B4E"/>
                </a:solidFill>
                <a:latin typeface="Aptos"/>
              </a:rPr>
              <a:t>Interpretation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84831" y="5797296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82230"/>
                </a:solidFill>
                <a:latin typeface="Aptos"/>
              </a:rPr>
              <a:t>Good accuracy can coexist with missed at-risk students; review recall, subgroup behavior, and context before use.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1792" y="6556248"/>
            <a:ext cx="9601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98A2B3"/>
                </a:solidFill>
                <a:latin typeface="Aptos"/>
              </a:rPr>
              <a:t>STUDENT ACADEMIC PERFORMANCE ANALYSIS  ·  DATA MINING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8A2B3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B82D0"/>
                </a:solidFill>
                <a:latin typeface="Aptos"/>
              </a:rPr>
              <a:t>05 · UNSUPERVISED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2B4E"/>
                </a:solidFill>
                <a:latin typeface="Aptos"/>
              </a:rPr>
              <a:t>Student segments reveal different engagement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07008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Aptos"/>
              </a:rPr>
              <a:t>K-means groups students using standardized attendance, assignment completion, study time, and prior score.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19072"/>
            <a:ext cx="2487168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856231"/>
            <a:ext cx="2167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7085"/>
                </a:solidFill>
                <a:latin typeface="Aptos"/>
              </a:rPr>
              <a:t>SEGMENTS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075688"/>
            <a:ext cx="216712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3B82D0"/>
                </a:solidFill>
                <a:latin typeface="Aptos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523744"/>
            <a:ext cx="2167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Aptos"/>
              </a:rPr>
              <a:t>K-means groups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55264" y="1719072"/>
            <a:ext cx="2487168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9856" y="1856231"/>
            <a:ext cx="2167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7085"/>
                </a:solidFill>
                <a:latin typeface="Aptos"/>
              </a:rPr>
              <a:t>SILHOUETTE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856" y="2075688"/>
            <a:ext cx="216712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99540"/>
                </a:solidFill>
                <a:latin typeface="Aptos"/>
              </a:rPr>
              <a:t>0.18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2523744"/>
            <a:ext cx="2167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Aptos"/>
              </a:rPr>
              <a:t>Modest separation in this sample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70448" y="1719072"/>
            <a:ext cx="2487168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856231"/>
            <a:ext cx="2167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7085"/>
                </a:solidFill>
                <a:latin typeface="Aptos"/>
              </a:rPr>
              <a:t>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075688"/>
            <a:ext cx="216712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39A99B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523744"/>
            <a:ext cx="2167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Aptos"/>
              </a:rPr>
              <a:t>Standardized engagement inputs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85632" y="1719072"/>
            <a:ext cx="2487168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0224" y="1856231"/>
            <a:ext cx="2167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67085"/>
                </a:solidFill>
                <a:latin typeface="Aptos"/>
              </a:rPr>
              <a:t>RISK FLAG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0224" y="2075688"/>
            <a:ext cx="216712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94F54"/>
                </a:solidFill>
                <a:latin typeface="Aptos"/>
              </a:rPr>
              <a:t>Derived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0224" y="2523744"/>
            <a:ext cx="21671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Aptos"/>
              </a:rPr>
              <a:t>Score and attendance rules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090672"/>
            <a:ext cx="708660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31012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B4E"/>
                </a:solidFill>
                <a:latin typeface="Aptos"/>
              </a:rPr>
              <a:t>Segment profile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73075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67085"/>
                </a:solidFill>
                <a:latin typeface="Aptos"/>
              </a:rPr>
              <a:t>Segment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2848" y="373075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67085"/>
                </a:solidFill>
                <a:latin typeface="Aptos"/>
              </a:rPr>
              <a:t>Students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82112" y="373075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67085"/>
                </a:solidFill>
                <a:latin typeface="Aptos"/>
              </a:rPr>
              <a:t>Attend.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42232" y="373075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67085"/>
                </a:solidFill>
                <a:latin typeface="Aptos"/>
              </a:rPr>
              <a:t>Assignments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1808" y="3730752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67085"/>
                </a:solidFill>
                <a:latin typeface="Aptos"/>
              </a:rPr>
              <a:t>Study hrs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73075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67085"/>
                </a:solidFill>
                <a:latin typeface="Aptos"/>
              </a:rPr>
              <a:t>At-risk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078224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82230"/>
                </a:solidFill>
                <a:latin typeface="Aptos"/>
              </a:rPr>
              <a:t>Segment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12848" y="407822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82230"/>
                </a:solidFill>
                <a:latin typeface="Aptos"/>
              </a:rPr>
              <a:t>116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82112" y="40782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82230"/>
                </a:solidFill>
                <a:latin typeface="Aptos"/>
              </a:rPr>
              <a:t>90%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42232" y="4078224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82230"/>
                </a:solidFill>
                <a:latin typeface="Aptos"/>
              </a:rPr>
              <a:t>67%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1808" y="4078224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82230"/>
                </a:solidFill>
                <a:latin typeface="Aptos"/>
              </a:rPr>
              <a:t>8.1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07822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28A36A"/>
                </a:solidFill>
                <a:latin typeface="Aptos"/>
              </a:rPr>
              <a:t>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438912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82230"/>
                </a:solidFill>
                <a:latin typeface="Aptos"/>
              </a:rPr>
              <a:t>Segment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2848" y="438912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82230"/>
                </a:solidFill>
                <a:latin typeface="Aptos"/>
              </a:rPr>
              <a:t>131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82112" y="43891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82230"/>
                </a:solidFill>
                <a:latin typeface="Aptos"/>
              </a:rPr>
              <a:t>91%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42232" y="438912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82230"/>
                </a:solidFill>
                <a:latin typeface="Aptos"/>
              </a:rPr>
              <a:t>88%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21808" y="438912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82230"/>
                </a:solidFill>
                <a:latin typeface="Aptos"/>
              </a:rPr>
              <a:t>6.1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38912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28A36A"/>
                </a:solidFill>
                <a:latin typeface="Aptos"/>
              </a:rPr>
              <a:t>15%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" y="470001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82230"/>
                </a:solidFill>
                <a:latin typeface="Aptos"/>
              </a:rPr>
              <a:t>Segment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12848" y="4700016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82230"/>
                </a:solidFill>
                <a:latin typeface="Aptos"/>
              </a:rPr>
              <a:t>136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82112" y="4700016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82230"/>
                </a:solidFill>
                <a:latin typeface="Aptos"/>
              </a:rPr>
              <a:t>90%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42232" y="470001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82230"/>
                </a:solidFill>
                <a:latin typeface="Aptos"/>
              </a:rPr>
              <a:t>88%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21808" y="4700016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82230"/>
                </a:solidFill>
                <a:latin typeface="Aptos"/>
              </a:rPr>
              <a:t>10.8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70001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28A36A"/>
                </a:solidFill>
                <a:latin typeface="Aptos"/>
              </a:rPr>
              <a:t>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" y="50109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82230"/>
                </a:solidFill>
                <a:latin typeface="Aptos"/>
              </a:rPr>
              <a:t>Segment 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12848" y="501091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82230"/>
                </a:solidFill>
                <a:latin typeface="Aptos"/>
              </a:rPr>
              <a:t>97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82112" y="501091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82230"/>
                </a:solidFill>
                <a:latin typeface="Aptos"/>
              </a:rPr>
              <a:t>76%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42232" y="501091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82230"/>
                </a:solidFill>
                <a:latin typeface="Aptos"/>
              </a:rPr>
              <a:t>83%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21808" y="5010912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82230"/>
                </a:solidFill>
                <a:latin typeface="Aptos"/>
              </a:rPr>
              <a:t>8.3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501091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D94F54"/>
                </a:solidFill>
                <a:latin typeface="Aptos"/>
              </a:rPr>
              <a:t>26%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73568" y="3090672"/>
            <a:ext cx="3566160" cy="2423160"/>
          </a:xfrm>
          <a:prstGeom prst="roundRect">
            <a:avLst>
              <a:gd name="adj" fmla="val 12000"/>
            </a:avLst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0456" y="3337560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B4E"/>
                </a:solidFill>
                <a:latin typeface="Aptos"/>
              </a:rPr>
              <a:t>What stands out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29600" y="3877056"/>
            <a:ext cx="82296" cy="82296"/>
          </a:xfrm>
          <a:prstGeom prst="roundRect">
            <a:avLst>
              <a:gd name="adj" fmla="val 12000"/>
            </a:avLst>
          </a:prstGeom>
          <a:solidFill>
            <a:srgbClr val="D94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0" y="37947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82230"/>
                </a:solidFill>
                <a:latin typeface="Aptos"/>
              </a:rPr>
              <a:t>Segment 4 has the highest observed risk rate (26%).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4562856"/>
            <a:ext cx="82296" cy="82296"/>
          </a:xfrm>
          <a:prstGeom prst="roundRect">
            <a:avLst>
              <a:gd name="adj" fmla="val 12000"/>
            </a:avLst>
          </a:prstGeom>
          <a:solidFill>
            <a:srgbClr val="3B8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12480" y="44805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82230"/>
                </a:solidFill>
                <a:latin typeface="Aptos"/>
              </a:rPr>
              <a:t>Clusters are exploratory—not fixed student types or diagnoses.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5806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Aptos"/>
              </a:rPr>
              <a:t>Silhouette is modest: consider other features and cluster counts before interpreting groups.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" y="6556248"/>
            <a:ext cx="9601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98A2B3"/>
                </a:solidFill>
                <a:latin typeface="Aptos"/>
              </a:rPr>
              <a:t>STUDENT ACADEMIC PERFORMANCE ANALYSIS  ·  DATA MINING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8A2B3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B82D0"/>
                </a:solidFill>
                <a:latin typeface="Aptos"/>
              </a:rPr>
              <a:t>06 ·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40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2B4E"/>
                </a:solidFill>
                <a:latin typeface="Aptos"/>
              </a:rPr>
              <a:t>A lightweight Python project that is easy to run and extend.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07008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Aptos"/>
              </a:rPr>
              <a:t>Streamlit UI · pandas data preparation · scikit-learn models · Plotly visualizations.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49240" cy="4069080"/>
          </a:xfrm>
          <a:prstGeom prst="roundRect">
            <a:avLst>
              <a:gd name="adj" fmla="val 12000"/>
            </a:avLst>
          </a:prstGeom>
          <a:solidFill>
            <a:srgbClr val="10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AFC6DD"/>
                </a:solidFill>
                <a:latin typeface="Aptos"/>
              </a:rPr>
              <a:t>PROJECT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32304"/>
            <a:ext cx="4617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student_analysis/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88336"/>
            <a:ext cx="4617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9E6F2"/>
                </a:solidFill>
                <a:latin typeface="Aptos"/>
              </a:rPr>
              <a:t>├── app.py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44368"/>
            <a:ext cx="4617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9E6F2"/>
                </a:solidFill>
                <a:latin typeface="Aptos"/>
              </a:rPr>
              <a:t>├── student_analytics/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4617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FC6DD"/>
                </a:solidFill>
                <a:latin typeface="Aptos"/>
              </a:rPr>
              <a:t>│   ├── data.py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56432"/>
            <a:ext cx="4617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FC6DD"/>
                </a:solidFill>
                <a:latin typeface="Aptos"/>
              </a:rPr>
              <a:t>│   └── analysis.py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12464"/>
            <a:ext cx="4617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9E6F2"/>
                </a:solidFill>
                <a:latin typeface="Aptos"/>
              </a:rPr>
              <a:t>├── data/student_performance.csv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68496"/>
            <a:ext cx="4617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9E6F2"/>
                </a:solidFill>
                <a:latin typeface="Aptos"/>
              </a:rPr>
              <a:t>├── scripts/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4617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FC6DD"/>
                </a:solidFill>
                <a:latin typeface="Aptos"/>
              </a:rPr>
              <a:t>│   ├── generate_sample_data.py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4617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FC6DD"/>
                </a:solidFill>
                <a:latin typeface="Aptos"/>
              </a:rPr>
              <a:t>│   └── create_project_presentation.py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36592"/>
            <a:ext cx="4617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9E6F2"/>
                </a:solidFill>
                <a:latin typeface="Aptos"/>
              </a:rPr>
              <a:t>├── tests/test_analysis.py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92624"/>
            <a:ext cx="4617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9E6F2"/>
                </a:solidFill>
                <a:latin typeface="Aptos"/>
              </a:rPr>
              <a:t>└── requirements.txt  ·  README.md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1737360"/>
            <a:ext cx="5257800" cy="4069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201168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B82D0"/>
                </a:solidFill>
                <a:latin typeface="Aptos"/>
              </a:rPr>
              <a:t>RUN LOCALLY · WINDOWS POWERSHELL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65392" y="2505456"/>
            <a:ext cx="4681728" cy="39319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9984" y="2596896"/>
            <a:ext cx="43525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02B4E"/>
                </a:solidFill>
                <a:latin typeface="Aptos"/>
              </a:rPr>
              <a:t>py -3 -m venv .venv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65392" y="3072384"/>
            <a:ext cx="4681728" cy="39319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9984" y="3163824"/>
            <a:ext cx="43525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02B4E"/>
                </a:solidFill>
                <a:latin typeface="Aptos"/>
              </a:rPr>
              <a:t>.\.venv\Scripts\Activate.ps1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65392" y="3639312"/>
            <a:ext cx="4681728" cy="39319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9984" y="3730752"/>
            <a:ext cx="43525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02B4E"/>
                </a:solidFill>
                <a:latin typeface="Aptos"/>
              </a:rPr>
              <a:t>pip install -r requirements.txt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65392" y="4206240"/>
            <a:ext cx="4681728" cy="39319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9984" y="4297680"/>
            <a:ext cx="43525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02B4E"/>
                </a:solidFill>
                <a:latin typeface="Aptos"/>
              </a:rPr>
              <a:t>streamlit run app.py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502920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8A36A"/>
                </a:solidFill>
                <a:latin typeface="Aptos"/>
              </a:rPr>
              <a:t>Dashboard: http://localhost:8501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5394960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Aptos"/>
              </a:rPr>
              <a:t>Upload a CSV with the documented 13 required fields; filters and exports update with the selection.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556248"/>
            <a:ext cx="9601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98A2B3"/>
                </a:solidFill>
                <a:latin typeface="Aptos"/>
              </a:rPr>
              <a:t>STUDENT ACADEMIC PERFORMANCE ANALYSIS  ·  DATA MINING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8A2B3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AFC6DD"/>
                </a:solidFill>
                <a:latin typeface="Aptos"/>
              </a:rPr>
              <a:t>07 · VALIDATION &amp; RESPONSIBLE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Useful analysis starts with honest limits.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64208"/>
            <a:ext cx="5349240" cy="3246120"/>
          </a:xfrm>
          <a:prstGeom prst="roundRect">
            <a:avLst>
              <a:gd name="adj" fmla="val 12000"/>
            </a:avLst>
          </a:prstGeom>
          <a:solidFill>
            <a:srgbClr val="183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385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AFC6DD"/>
                </a:solidFill>
                <a:latin typeface="Aptos"/>
              </a:rPr>
              <a:t>QUALITY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78024"/>
            <a:ext cx="82296" cy="82296"/>
          </a:xfrm>
          <a:prstGeom prst="roundRect">
            <a:avLst>
              <a:gd name="adj" fmla="val 12000"/>
            </a:avLst>
          </a:prstGeom>
          <a:solidFill>
            <a:srgbClr val="28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95728"/>
            <a:ext cx="44805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82230"/>
                </a:solidFill>
                <a:latin typeface="Aptos"/>
              </a:rPr>
              <a:t>5 unit tests pass: reproducibility, validation, classification, and clustering.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18688"/>
            <a:ext cx="82296" cy="82296"/>
          </a:xfrm>
          <a:prstGeom prst="roundRect">
            <a:avLst>
              <a:gd name="adj" fmla="val 12000"/>
            </a:avLst>
          </a:prstGeom>
          <a:solidFill>
            <a:srgbClr val="3B8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36392"/>
            <a:ext cx="44805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82230"/>
                </a:solidFill>
                <a:latin typeface="Aptos"/>
              </a:rPr>
              <a:t>CSV schema, score ranges, numeric fields, and assessment dates are checked.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959352"/>
            <a:ext cx="82296" cy="82296"/>
          </a:xfrm>
          <a:prstGeom prst="roundRect">
            <a:avLst>
              <a:gd name="adj" fmla="val 12000"/>
            </a:avLst>
          </a:prstGeom>
          <a:solidFill>
            <a:srgbClr val="E9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77056"/>
            <a:ext cx="44805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82230"/>
                </a:solidFill>
                <a:latin typeface="Aptos"/>
              </a:rPr>
              <a:t>Risk inputs exclude final score and the derived target label.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64208"/>
            <a:ext cx="5330952" cy="3246120"/>
          </a:xfrm>
          <a:prstGeom prst="roundRect">
            <a:avLst>
              <a:gd name="adj" fmla="val 12000"/>
            </a:avLst>
          </a:prstGeom>
          <a:solidFill>
            <a:srgbClr val="183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9385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AFC6DD"/>
                </a:solidFill>
                <a:latin typeface="Aptos"/>
              </a:rPr>
              <a:t>RESPONSIBLE DEPLOYMENT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478024"/>
            <a:ext cx="82296" cy="82296"/>
          </a:xfrm>
          <a:prstGeom prst="roundRect">
            <a:avLst>
              <a:gd name="adj" fmla="val 12000"/>
            </a:avLst>
          </a:prstGeom>
          <a:solidFill>
            <a:srgbClr val="E99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395728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82230"/>
                </a:solidFill>
                <a:latin typeface="Aptos"/>
              </a:rPr>
              <a:t>Sample data is synthetic; performance does not establish real-world validity.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218688"/>
            <a:ext cx="82296" cy="82296"/>
          </a:xfrm>
          <a:prstGeom prst="roundRect">
            <a:avLst>
              <a:gd name="adj" fmla="val 12000"/>
            </a:avLst>
          </a:prstGeom>
          <a:solidFill>
            <a:srgbClr val="39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136392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82230"/>
                </a:solidFill>
                <a:latin typeface="Aptos"/>
              </a:rPr>
              <a:t>Use as a support signal only; educators review context and make decisions.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959352"/>
            <a:ext cx="82296" cy="82296"/>
          </a:xfrm>
          <a:prstGeom prst="roundRect">
            <a:avLst>
              <a:gd name="adj" fmla="val 12000"/>
            </a:avLst>
          </a:prstGeom>
          <a:solidFill>
            <a:srgbClr val="D94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877056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82230"/>
                </a:solidFill>
                <a:latin typeface="Aptos"/>
              </a:rPr>
              <a:t>Protect student privacy; obtain authorization and assess fairness on representative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349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Next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358384"/>
            <a:ext cx="9509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9E6F2"/>
                </a:solidFill>
                <a:latin typeface="Aptos"/>
              </a:rPr>
              <a:t>Evaluate on consented school data  →  measure subgroup outcomes  →  calibrate thresholds  →  review with educators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56248"/>
            <a:ext cx="9601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C5D2E2"/>
                </a:solidFill>
                <a:latin typeface="Aptos"/>
              </a:rPr>
              <a:t>STUDENT ACADEMIC PERFORMANCE ANALYSIS  ·  DATA MINING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5D2E2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Academic Performance Analysis Using Data Mining</dc:title>
  <dc:subject>Streamlit dashboard, predictive analytics, and student engagement clustering</dc:subject>
  <dc:creator>Student Analytics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